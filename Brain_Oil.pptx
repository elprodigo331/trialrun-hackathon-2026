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371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/>
            </a:pPr>
            <a:r>
              <a:t>Oil Production Prediction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37744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/>
            </a:pPr>
            <a:r>
              <a:t>Energy AI Hackathon 2026 - January 25th,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/>
            </a:pPr>
            <a:r>
              <a:t>Team Brain Oil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Kailasadatta Boggaram, Jayanth Damodaran, Bilal Shihab, Carlos Fabela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Hildebrand Department of Petroleum and Geosystems Engineering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93776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The University of Texas at Austin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99"/>
                </a:solidFill>
              </a:defRPr>
            </a:pPr>
            <a:r>
              <a:t>1.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Predict 3-year cumulative oil production for 12 preproduction wells (IDs 72-83) with uncertainty quantification (100 realizations).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99"/>
                </a:solidFill>
              </a:defRPr>
            </a:pPr>
            <a:r>
              <a:t>2. Our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Ridge Regression (alpha=1.0) with StandardScaler, stepwise feature selection (105→10), and Bagging Ensemble for uncertainty.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99"/>
                </a:solidFill>
              </a:defRPr>
            </a:pPr>
            <a:r>
              <a:t>3. What We Learned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3832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For small datasets (n=71), simple regularized models beat complex ones. Porosity (φ) is the primary driver of production.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99"/>
                </a:solidFill>
              </a:defRPr>
            </a:pPr>
            <a:r>
              <a:t>4. Our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480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Test R² = 0.9905 (EXCELLENT), RMSE = 1.57M BBL (4.7% error). Ridge outperformed Random Forest and XGBoost.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Workflow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914400"/>
            <a:ext cx="8412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400"/>
              </a:spcAft>
              <a:defRPr sz="1600"/>
            </a:pPr>
            <a:r>
              <a:t>1. Data Loading → Load well logs (71 train, 12 test) + sand proportion map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/>
            </a:pPr>
            <a:r>
              <a:t>2. MICE + CART Imputation → Fill missing values at depth level (Van Buuren 2018)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/>
            </a:pPr>
            <a:r>
              <a:t>3. Aggregation → Multi-row depth data → One row per well (mean, std, min, max)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/>
            </a:pPr>
            <a:r>
              <a:t>4. Feature Engineering → 105 features including RQI, FZI, spatial features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/>
            </a:pPr>
            <a:r>
              <a:t>5. Feature Selection → Correlation filter (105→61) + Stepwise (61→10)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/>
            </a:pPr>
            <a:r>
              <a:t>6. Model Training → Ridge Regression with StandardScaler (alpha=1.0)</a:t>
            </a:r>
          </a:p>
          <a:p>
            <a:pPr>
              <a:spcBef>
                <a:spcPts val="1200"/>
              </a:spcBef>
              <a:spcAft>
                <a:spcPts val="400"/>
              </a:spcAft>
              <a:defRPr sz="1600"/>
            </a:pPr>
            <a:r>
              <a:t>7. Uncertainty → Bagging Ensemble (100 estimators) for R1-R100 realizations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Key Modeling Decisions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699"/>
                </a:solidFill>
              </a:defRPr>
            </a:pPr>
            <a:r>
              <a:t>Why Ridge Regression?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/>
            </a:pPr>
            <a:r>
              <a:t>• n=71 is small → regularized linear beats trees</a:t>
            </a:r>
          </a:p>
          <a:p>
            <a:pPr>
              <a:spcBef>
                <a:spcPts val="600"/>
              </a:spcBef>
              <a:defRPr sz="1400"/>
            </a:pPr>
            <a:r>
              <a:t>• Hastie et al. (2009): lower variance for small n</a:t>
            </a:r>
          </a:p>
          <a:p>
            <a:pPr>
              <a:spcBef>
                <a:spcPts val="600"/>
              </a:spcBef>
              <a:defRPr sz="1400"/>
            </a:pPr>
            <a:r>
              <a:t>• Ridge R²=0.99 vs RF R²=0.85 vs XGB R²=0.82</a:t>
            </a:r>
          </a:p>
          <a:p>
            <a:pPr>
              <a:spcBef>
                <a:spcPts val="600"/>
              </a:spcBef>
              <a:defRPr sz="1400"/>
            </a:pPr>
            <a:r>
              <a:t>• Alpha=1.0 provides balanced regularization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91440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699"/>
                </a:solidFill>
              </a:defRPr>
            </a:pPr>
            <a:r>
              <a:t>Why Porosity (φ) Matters Most?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/>
            </a:pPr>
            <a:r>
              <a:t>• φ directly measures storage capacity</a:t>
            </a:r>
          </a:p>
          <a:p>
            <a:pPr>
              <a:spcBef>
                <a:spcPts val="600"/>
              </a:spcBef>
              <a:defRPr sz="1400"/>
            </a:pPr>
            <a:r>
              <a:t>• OOIP = 7758 × A × h × φ × (1-Sw) / Bo</a:t>
            </a:r>
          </a:p>
          <a:p>
            <a:pPr>
              <a:spcBef>
                <a:spcPts val="600"/>
              </a:spcBef>
              <a:defRPr sz="1400"/>
            </a:pPr>
            <a:r>
              <a:t>• Higher porosity = more oil = more production</a:t>
            </a:r>
          </a:p>
          <a:p>
            <a:pPr>
              <a:spcBef>
                <a:spcPts val="600"/>
              </a:spcBef>
              <a:defRPr sz="1400"/>
            </a:pPr>
            <a:r>
              <a:t>• Domain experts prioritize φ over 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29184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699"/>
                </a:solidFill>
              </a:defRPr>
            </a:pPr>
            <a:r>
              <a:t>Final Configuration (57+ configs tested)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65760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Model: Ridge (α=1.0) | Normalize: StandardScaler | Features: 10 (stepwise) | Sand Map: Smooth 3x3 | Uncertainty: Bagging (100)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Results and Discussions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699"/>
                </a:solidFill>
              </a:defRPr>
            </a:pPr>
            <a:r>
              <a:t>Model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/>
            </a:pPr>
            <a:r>
              <a:t>• Test R² = 0.9905 (EXCELLENT ≥0.93)</a:t>
            </a:r>
          </a:p>
          <a:p>
            <a:pPr>
              <a:spcBef>
                <a:spcPts val="600"/>
              </a:spcBef>
              <a:defRPr sz="1400"/>
            </a:pPr>
            <a:r>
              <a:t>• CV R² = 0.9539 ± 0.0456 (stable)</a:t>
            </a:r>
          </a:p>
          <a:p>
            <a:pPr>
              <a:spcBef>
                <a:spcPts val="600"/>
              </a:spcBef>
              <a:defRPr sz="1400"/>
            </a:pPr>
            <a:r>
              <a:t>• RMSE = 1.57M BBL (4.7% of mean)</a:t>
            </a:r>
          </a:p>
          <a:p>
            <a:pPr>
              <a:spcBef>
                <a:spcPts val="600"/>
              </a:spcBef>
              <a:defRPr sz="1400"/>
            </a:pPr>
            <a:r>
              <a:t>• All metrics exceed industry benchmarks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91440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699"/>
                </a:solidFill>
              </a:defRPr>
            </a:pPr>
            <a:r>
              <a:t>Predictions (Wells 72-83)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28016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400"/>
            </a:pPr>
            <a:r>
              <a:t>• 12 point estimates + 100 realizations each</a:t>
            </a:r>
          </a:p>
          <a:p>
            <a:pPr>
              <a:spcBef>
                <a:spcPts val="600"/>
              </a:spcBef>
              <a:defRPr sz="1400"/>
            </a:pPr>
            <a:r>
              <a:t>• Range: ~15M to ~47M BBL over 3 years</a:t>
            </a:r>
          </a:p>
          <a:p>
            <a:pPr>
              <a:spcBef>
                <a:spcPts val="600"/>
              </a:spcBef>
              <a:defRPr sz="1400"/>
            </a:pPr>
            <a:r>
              <a:t>• Uncertainty via Bagging Ensemble</a:t>
            </a:r>
          </a:p>
          <a:p>
            <a:pPr>
              <a:spcBef>
                <a:spcPts val="600"/>
              </a:spcBef>
              <a:defRPr sz="1400"/>
            </a:pPr>
            <a:r>
              <a:t>• Output: solution.csv (102 columns)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3200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006699"/>
                </a:solidFill>
              </a:defRPr>
            </a:pPr>
            <a:r>
              <a:t>Model Comparison (57+ configurations tested)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356616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/>
            </a:pPr>
            <a:r>
              <a:t>Ridge R²=0.9905 (WINNER) | Random Forest R²=0.85 | XGBoost R²=0.82 | Linear Regression: Overfit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/>
            </a:pPr>
            <a:r>
              <a:t>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14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99"/>
                </a:solidFill>
              </a:defRPr>
            </a:pPr>
            <a:r>
              <a:t>What We Learned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1234440"/>
            <a:ext cx="8595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300"/>
            </a:pPr>
            <a:r>
              <a:t>• Simple models win for small datasets (n&lt;100)</a:t>
            </a:r>
          </a:p>
          <a:p>
            <a:pPr>
              <a:spcBef>
                <a:spcPts val="300"/>
              </a:spcBef>
              <a:defRPr sz="1300"/>
            </a:pPr>
            <a:r>
              <a:t>• Domain knowledge (porosity priority) improves feature selection</a:t>
            </a:r>
          </a:p>
          <a:p>
            <a:pPr>
              <a:spcBef>
                <a:spcPts val="300"/>
              </a:spcBef>
              <a:defRPr sz="1300"/>
            </a:pPr>
            <a:r>
              <a:t>• MICE+CART imputation preserves data relationships</a:t>
            </a:r>
          </a:p>
          <a:p>
            <a:pPr>
              <a:spcBef>
                <a:spcPts val="300"/>
              </a:spcBef>
              <a:defRPr sz="1300"/>
            </a:pPr>
            <a:r>
              <a:t>• Bagging provides robust uncertainty quantification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278892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99"/>
                </a:solidFill>
              </a:defRPr>
            </a:pPr>
            <a:r>
              <a:t>What We Liked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3108960"/>
            <a:ext cx="8595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300"/>
            </a:pPr>
            <a:r>
              <a:t>• Real-world petroleum engineering problem</a:t>
            </a:r>
          </a:p>
          <a:p>
            <a:pPr>
              <a:spcBef>
                <a:spcPts val="300"/>
              </a:spcBef>
              <a:defRPr sz="1300"/>
            </a:pPr>
            <a:r>
              <a:t>• Comprehensive workshop materials (Prof. Pyrcz &amp; Prof. Foster)</a:t>
            </a:r>
          </a:p>
          <a:p>
            <a:pPr>
              <a:spcBef>
                <a:spcPts val="300"/>
              </a:spcBef>
              <a:defRPr sz="1300"/>
            </a:pPr>
            <a:r>
              <a:t>• Multi-disciplinary team collaboration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4343400"/>
            <a:ext cx="8229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006699"/>
                </a:solidFill>
              </a:defRPr>
            </a:pPr>
            <a:r>
              <a:t>Suggestions for Next Year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663440"/>
            <a:ext cx="8595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  <a:defRPr sz="1300"/>
            </a:pPr>
            <a:r>
              <a:t>• More time for model validation and iteration</a:t>
            </a:r>
          </a:p>
          <a:p>
            <a:pPr>
              <a:spcBef>
                <a:spcPts val="300"/>
              </a:spcBef>
              <a:defRPr sz="1300"/>
            </a:pPr>
            <a:r>
              <a:t>• Additional spatial/temporal data for enhanced predictions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