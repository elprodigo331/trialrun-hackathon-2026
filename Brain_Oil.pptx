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0" r:id="rId21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/>
            </a:pPr>
            <a:r>
              <a:t>Brain_Oil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Predicting 3-Year Cumulative Oil Production with Uncertainty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Kailasadatta Boggaram | Jayanth Damodaran | Bilal Shihab | Carlos Fabela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The University of Texas at Austin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Energy AI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Problem: Predict 3-year cumulative oil production for 12 preproduction wells using well logs with missing data and noisy seismic maps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Approach: MICE+CART imputation at depth level, 19+ engineered features (RQI, FZI), Ridge Regression with two-stage feature selection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Findings: Ridge Regression outperformed tree-based models (R²=0.9905 vs ~0.82-0.85) due to lower variance on small datasets (n=71)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Recommendation: For small subsurface datasets, prioritize regularized linear models over tree ensembles; use Bagging for uncertainty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Predict 3-year cumulative oil production (BBL) for 12 preproduction wells (IDs 72-83)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Generate point estimates + 100 realizations for uncertainty quantification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Training data: 71 production wells with ~21 depth measurements each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Challenges: Missing well log data, noisy seismic-derived sand map, small dataset size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Data &amp; Preprocessing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Well log features: AI, SI, Vp, Vs, rho, K, G, phi, perm, GR, facies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MICE + CART imputation at depth level (Van Buuren 2018, Hallam et al. 2022)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Aggregation: Mean, std, min, max + best/worst zone features for depth heterogeneity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Sand map: 3x3 smoothing to reduce deliberate noise (per architect guidance)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Production history: Calculate 3-year cumulative oil from monthly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Feature Engineering (19+ Features)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RQI = 0.0314 × √(k/φ) - Reservoir Quality Index (Amaefule et al. 1993)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FZI = RQI / (φ/(1-φ)) - Flow Zone Indicator for hydraulic units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Vp/Vs ratio - Rock physics lithology and fluid indicator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Best zone features: phi, perm, GR at depth with highest rock quality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Analog similarity: Distance to top 25% producers in rock quality space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Spatial proximity: Distance to high-production region centroid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Feature Selection (Two-Stage)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Stage 1: Correlation filter removes redundant features (r ≥ 0.98)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Result: 105 → 61 features (removed 44 highly correlated)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Stage 2: Stepwise forward selection with 5-fold CV (Miller 2002)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Result: 61 → 10 optimal features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Key insight: Dimensionality reduction improves generalization (Guyon &amp; Elisseeff 2003)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Model Benchmarking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Ridge Regression significantly outperformed tree-based models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Test 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Overfitting Gap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Ridge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1.57M 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0.002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~0.85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5.2M 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0.15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~0.82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5.8M 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0.18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Overfit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&gt;1.0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Why Ridge Regression Won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Small dataset (n=71): Regularization prevents overfitting (Hastie et al. 2009)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High-dimensional features: L2 penalty handles multicollinearity (Hoerl &amp; Kennard 1970)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Stability: CV R² std of only ±0.0456 indicates robust performance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Simplicity: Linear model is more interpretable than tree ensembles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Key lesson: 'For small datasets, simpler models often win' - Dr. Pyrcz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Uncertainty Quantification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Method: Bagging Ensemble with 100 Ridge estimators (Breiman 1996)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Each estimator trained on bootstrap sample of training data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Each estimator's prediction → one realization (R_1 to R_100)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Captures model uncertainty, not just residual noise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OOB R² validates ensemble quality without holdout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Final Model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/>
            </a:pPr>
            <a:r>
              <a:t>Model achieves excellent accuracy with robust cross-validation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Industry Benchmark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Test 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0.9905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Excellent (≥0.93)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CV R²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0.9539 ± 0.0456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Excellent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Test 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1.57M 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4.7% of mean (Excellent &lt;10%)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Features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Optimal via stepwise selection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Innovations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MICE imputation at depth level (before aggregation) - preserves correlations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Two-stage feature selection: correlation filter + stepwise forward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Best zone features capture depth heterogeneity that averages miss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Systematic benchmarking: 57+ configurations tested to find optimal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Bagging over residual bootstrap for uncertainty - captures model uncertainty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Amaefule et al. (1993) - RQI/FZI for reservoir quality, SPE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Breiman (1996) - Bagging predictors, Machine Learning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Hastie, Tibshirani &amp; Friedman (2009) - Elements of Statistical Learning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Hoerl &amp; Kennard (1970) - Ridge Regression, Technometrics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Miller (2002) - Subset Selection in Regression, Chapman &amp; Hall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Van Buuren (2018) - Flexible Imputation of Missing Data, CRC Press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Ridge Regression with stepwise selection achieved R²=0.9905 on test data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Regularized linear models outperform tree ensembles on small datasets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MICE imputation at depth level is critical for preserving correlations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Feature engineering (RQI, FZI, best zone) captures reservoir quality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Bagging provides robust uncertainty quantification (100 realizations)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Questions?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Team Brain_Oil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The University of Texas at Austin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2000"/>
            </a:pPr>
            <a:r>
              <a:t>• Energy AI Hackathon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/>
            </a:pPr>
            <a:r>
              <a:t>Spatial Analysis: Sand Proportion &amp; Production</a:t>
            </a:r>
          </a:p>
        </p:txBody>
      </p:sp>
      <p:pic>
        <p:nvPicPr>
          <p:cNvPr id="4" name="Picture 3" descr="sand_heat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64008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035040"/>
            <a:ext cx="8595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/>
            </a:pPr>
            <a:r>
              <a:t>Key Insight: Higher sand proportion (yellow) correlates with higher oil production (green/yellow markers)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