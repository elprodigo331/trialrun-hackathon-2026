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8" r:id="rId2"/>
  </p:sldMasterIdLst>
  <p:notesMasterIdLst>
    <p:notesMasterId r:id="rId9"/>
  </p:notesMasterIdLst>
  <p:sldIdLst>
    <p:sldId id="263" r:id="rId3"/>
    <p:sldId id="264" r:id="rId4"/>
    <p:sldId id="265" r:id="rId5"/>
    <p:sldId id="266" r:id="rId6"/>
    <p:sldId id="267" r:id="rId7"/>
    <p:sldId id="268" r:id="rId8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5700"/>
    <a:srgbClr val="C6531F"/>
    <a:srgbClr val="BF5727"/>
    <a:srgbClr val="B043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6"/>
    <p:restoredTop sz="94643"/>
  </p:normalViewPr>
  <p:slideViewPr>
    <p:cSldViewPr snapToGrid="0" snapToObjects="1">
      <p:cViewPr varScale="1">
        <p:scale>
          <a:sx n="97" d="100"/>
          <a:sy n="97" d="100"/>
        </p:scale>
        <p:origin x="94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yrcz, Michael" userId="0efd8a38-3f8e-46fd-9886-7800c0196e80" providerId="ADAL" clId="{F9708F9E-5A85-4D60-AECF-A370A7B76082}"/>
    <pc:docChg chg="custSel modSld modMainMaster">
      <pc:chgData name="Pyrcz, Michael" userId="0efd8a38-3f8e-46fd-9886-7800c0196e80" providerId="ADAL" clId="{F9708F9E-5A85-4D60-AECF-A370A7B76082}" dt="2024-01-20T16:44:42.386" v="166" actId="20577"/>
      <pc:docMkLst>
        <pc:docMk/>
      </pc:docMkLst>
      <pc:sldChg chg="modSp">
        <pc:chgData name="Pyrcz, Michael" userId="0efd8a38-3f8e-46fd-9886-7800c0196e80" providerId="ADAL" clId="{F9708F9E-5A85-4D60-AECF-A370A7B76082}" dt="2024-01-20T16:42:38.554" v="14" actId="1076"/>
        <pc:sldMkLst>
          <pc:docMk/>
          <pc:sldMk cId="0" sldId="263"/>
        </pc:sldMkLst>
        <pc:spChg chg="mod">
          <ac:chgData name="Pyrcz, Michael" userId="0efd8a38-3f8e-46fd-9886-7800c0196e80" providerId="ADAL" clId="{F9708F9E-5A85-4D60-AECF-A370A7B76082}" dt="2024-01-20T16:42:38.554" v="14" actId="1076"/>
          <ac:spMkLst>
            <pc:docMk/>
            <pc:sldMk cId="0" sldId="263"/>
            <ac:spMk id="2" creationId="{42365954-A42F-437F-828E-34290C82D61E}"/>
          </ac:spMkLst>
        </pc:spChg>
        <pc:spChg chg="mod">
          <ac:chgData name="Pyrcz, Michael" userId="0efd8a38-3f8e-46fd-9886-7800c0196e80" providerId="ADAL" clId="{F9708F9E-5A85-4D60-AECF-A370A7B76082}" dt="2024-01-20T16:42:21.900" v="3" actId="20577"/>
          <ac:spMkLst>
            <pc:docMk/>
            <pc:sldMk cId="0" sldId="263"/>
            <ac:spMk id="9" creationId="{C3CAC856-1BBB-45BD-8E9F-47D8B49C9EFA}"/>
          </ac:spMkLst>
        </pc:spChg>
      </pc:sldChg>
      <pc:sldChg chg="modSp">
        <pc:chgData name="Pyrcz, Michael" userId="0efd8a38-3f8e-46fd-9886-7800c0196e80" providerId="ADAL" clId="{F9708F9E-5A85-4D60-AECF-A370A7B76082}" dt="2024-01-20T16:44:42.386" v="166" actId="20577"/>
        <pc:sldMkLst>
          <pc:docMk/>
          <pc:sldMk cId="2036120476" sldId="267"/>
        </pc:sldMkLst>
        <pc:spChg chg="mod">
          <ac:chgData name="Pyrcz, Michael" userId="0efd8a38-3f8e-46fd-9886-7800c0196e80" providerId="ADAL" clId="{F9708F9E-5A85-4D60-AECF-A370A7B76082}" dt="2024-01-20T16:44:42.386" v="166" actId="20577"/>
          <ac:spMkLst>
            <pc:docMk/>
            <pc:sldMk cId="2036120476" sldId="267"/>
            <ac:spMk id="9" creationId="{C3CAC856-1BBB-45BD-8E9F-47D8B49C9EFA}"/>
          </ac:spMkLst>
        </pc:spChg>
      </pc:sldChg>
      <pc:sldMasterChg chg="modSp">
        <pc:chgData name="Pyrcz, Michael" userId="0efd8a38-3f8e-46fd-9886-7800c0196e80" providerId="ADAL" clId="{F9708F9E-5A85-4D60-AECF-A370A7B76082}" dt="2024-01-20T16:43:05.669" v="26" actId="20577"/>
        <pc:sldMasterMkLst>
          <pc:docMk/>
          <pc:sldMasterMk cId="0" sldId="2147483648"/>
        </pc:sldMasterMkLst>
        <pc:spChg chg="mod">
          <ac:chgData name="Pyrcz, Michael" userId="0efd8a38-3f8e-46fd-9886-7800c0196e80" providerId="ADAL" clId="{F9708F9E-5A85-4D60-AECF-A370A7B76082}" dt="2024-01-20T16:43:05.669" v="26" actId="20577"/>
          <ac:spMkLst>
            <pc:docMk/>
            <pc:sldMasterMk cId="0" sldId="2147483648"/>
            <ac:spMk id="3" creationId="{6647E0C5-B503-4AC3-9922-270730B29508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55A2F7-1CB2-9A4A-A317-46954273A42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1CC7E6-B446-F548-8841-94B308AA3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46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94846" y="1769078"/>
            <a:ext cx="7437816" cy="27270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000" b="1" baseline="0">
                <a:solidFill>
                  <a:srgbClr val="BF5700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98884" y="4773623"/>
            <a:ext cx="6733778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600" baseline="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564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a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894846" y="1769078"/>
            <a:ext cx="7437816" cy="27270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000" b="1" baseline="0">
                <a:solidFill>
                  <a:srgbClr val="BF5700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598884" y="4773623"/>
            <a:ext cx="6733778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600" baseline="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45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09033" y="1058239"/>
            <a:ext cx="7740650" cy="688975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600" b="1">
                <a:solidFill>
                  <a:srgbClr val="BF5700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 bwMode="auto">
          <a:xfrm>
            <a:off x="709033" y="1855886"/>
            <a:ext cx="7734300" cy="4589463"/>
          </a:xfrm>
          <a:prstGeom prst="rect">
            <a:avLst/>
          </a:prstGeom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chemeClr val="bg2"/>
              </a:buClr>
              <a:defRPr sz="24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1pPr>
            <a:lvl2pPr marL="800100" indent="-342900">
              <a:buClr>
                <a:schemeClr val="bg2"/>
              </a:buClr>
              <a:buFont typeface="Lucida Grande"/>
              <a:buChar char="-"/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2pPr>
            <a:lvl3pPr marL="1257300" indent="-342900">
              <a:buClr>
                <a:schemeClr val="bg2"/>
              </a:buClr>
              <a:buFont typeface="Arial"/>
              <a:buChar char="•"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30586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1"/>
          <p:cNvSpPr>
            <a:spLocks noGrp="1"/>
          </p:cNvSpPr>
          <p:nvPr>
            <p:ph sz="half" idx="1"/>
          </p:nvPr>
        </p:nvSpPr>
        <p:spPr bwMode="auto">
          <a:xfrm>
            <a:off x="628650" y="1929440"/>
            <a:ext cx="3867150" cy="4333875"/>
          </a:xfrm>
          <a:prstGeom prst="rect">
            <a:avLst/>
          </a:prstGeom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1pPr>
            <a:lvl2pPr>
              <a:defRPr sz="2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2pPr>
            <a:lvl3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628650" y="1071686"/>
            <a:ext cx="7913397" cy="688975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600" b="1">
                <a:solidFill>
                  <a:srgbClr val="BF5700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10"/>
          </p:nvPr>
        </p:nvSpPr>
        <p:spPr bwMode="auto">
          <a:xfrm>
            <a:off x="4674897" y="1928888"/>
            <a:ext cx="3867150" cy="4333875"/>
          </a:xfrm>
          <a:prstGeom prst="rect">
            <a:avLst/>
          </a:prstGeom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1pPr>
            <a:lvl2pPr>
              <a:defRPr sz="2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2pPr>
            <a:lvl3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99720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911975"/>
          </a:xfrm>
          <a:prstGeom prst="rect">
            <a:avLst/>
          </a:prstGeom>
          <a:solidFill>
            <a:srgbClr val="B043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93853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043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pic>
        <p:nvPicPr>
          <p:cNvPr id="3" name="Picture 4" descr="knockout_formal_Cockrell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088" y="2552700"/>
            <a:ext cx="8143875" cy="296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968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/>
          <p:cNvSpPr>
            <a:spLocks noGrp="1"/>
          </p:cNvSpPr>
          <p:nvPr>
            <p:ph sz="half" idx="1"/>
          </p:nvPr>
        </p:nvSpPr>
        <p:spPr bwMode="auto">
          <a:xfrm>
            <a:off x="628650" y="1929440"/>
            <a:ext cx="3867150" cy="4333875"/>
          </a:xfrm>
          <a:prstGeom prst="rect">
            <a:avLst/>
          </a:prstGeom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1pPr>
            <a:lvl2pPr>
              <a:defRPr sz="2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2pPr>
            <a:lvl3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28650" y="1071686"/>
            <a:ext cx="7913397" cy="688975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600" b="1">
                <a:solidFill>
                  <a:srgbClr val="BF5700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half" idx="10"/>
          </p:nvPr>
        </p:nvSpPr>
        <p:spPr bwMode="auto">
          <a:xfrm>
            <a:off x="4674897" y="1928888"/>
            <a:ext cx="3867150" cy="4333875"/>
          </a:xfrm>
          <a:prstGeom prst="rect">
            <a:avLst/>
          </a:prstGeom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1pPr>
            <a:lvl2pPr>
              <a:defRPr sz="2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2pPr>
            <a:lvl3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15173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09033" y="1058239"/>
            <a:ext cx="7740650" cy="688975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600" b="1">
                <a:solidFill>
                  <a:srgbClr val="BF5700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 bwMode="auto">
          <a:xfrm>
            <a:off x="709033" y="1855886"/>
            <a:ext cx="7734300" cy="4589463"/>
          </a:xfrm>
          <a:prstGeom prst="rect">
            <a:avLst/>
          </a:prstGeom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chemeClr val="bg2"/>
              </a:buClr>
              <a:defRPr sz="24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1pPr>
            <a:lvl2pPr marL="800100" indent="-342900">
              <a:buClr>
                <a:schemeClr val="bg2"/>
              </a:buClr>
              <a:buFont typeface="Lucida Grande"/>
              <a:buChar char="-"/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2pPr>
            <a:lvl3pPr marL="1257300" indent="-342900">
              <a:buClr>
                <a:schemeClr val="bg2"/>
              </a:buClr>
              <a:buFont typeface="Arial"/>
              <a:buChar char="•"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35067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9007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7184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034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6349"/>
            <a:ext cx="9144000" cy="655225"/>
          </a:xfrm>
          <a:prstGeom prst="rect">
            <a:avLst/>
          </a:prstGeom>
          <a:solidFill>
            <a:srgbClr val="B043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58" y="83392"/>
            <a:ext cx="2514943" cy="5025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47E0C5-B503-4AC3-9922-270730B29508}"/>
              </a:ext>
            </a:extLst>
          </p:cNvPr>
          <p:cNvSpPr txBox="1"/>
          <p:nvPr userDrawn="1"/>
        </p:nvSpPr>
        <p:spPr>
          <a:xfrm>
            <a:off x="3205467" y="57178"/>
            <a:ext cx="46612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Energy A.I. 2026 Hackathon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6" r:id="rId5"/>
    <p:sldLayoutId id="2147483677" r:id="rId6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9144000" cy="753034"/>
          </a:xfrm>
          <a:prstGeom prst="rect">
            <a:avLst/>
          </a:prstGeom>
          <a:solidFill>
            <a:srgbClr val="B043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118" y="-92823"/>
            <a:ext cx="2067112" cy="92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658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3CAC856-1BBB-45BD-8E9F-47D8B49C9EFA}"/>
              </a:ext>
            </a:extLst>
          </p:cNvPr>
          <p:cNvSpPr txBox="1"/>
          <p:nvPr/>
        </p:nvSpPr>
        <p:spPr>
          <a:xfrm>
            <a:off x="24940" y="1674673"/>
            <a:ext cx="908581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000" b="1" i="0" u="none" strike="noStrike" baseline="0" dirty="0"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2000" b="1" dirty="0">
                <a:latin typeface="+mn-lt"/>
                <a:cs typeface="Arial" panose="020B0604020202020204" pitchFamily="34" charset="0"/>
              </a:rPr>
              <a:t>Hackathon Project Final Presentation</a:t>
            </a:r>
          </a:p>
          <a:p>
            <a:pPr algn="ctr"/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algn="ctr"/>
            <a:endParaRPr lang="en-US" sz="1800" b="1" dirty="0">
              <a:latin typeface="+mn-lt"/>
              <a:cs typeface="Arial" panose="020B0604020202020204" pitchFamily="34" charset="0"/>
            </a:endParaRPr>
          </a:p>
          <a:p>
            <a:pPr algn="ctr"/>
            <a:r>
              <a:rPr dirty="0"/>
              <a:t>January 2</a:t>
            </a:r>
            <a:r>
              <a:rPr lang="en-US" dirty="0"/>
              <a:t>5</a:t>
            </a:r>
            <a:r>
              <a:rPr dirty="0"/>
              <a:t>th, 2026</a:t>
            </a:r>
          </a:p>
          <a:p>
            <a:pPr algn="ctr"/>
            <a:endParaRPr lang="en-US" sz="1800" b="1" i="0" u="none" strike="noStrike" baseline="0" dirty="0">
              <a:latin typeface="+mn-lt"/>
              <a:cs typeface="Arial" panose="020B0604020202020204" pitchFamily="34" charset="0"/>
            </a:endParaRPr>
          </a:p>
          <a:p>
            <a:pPr algn="ctr"/>
            <a:endParaRPr lang="en-US" sz="1800" b="1" dirty="0"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1800" b="1" i="0" u="none" strike="noStrike" baseline="0" dirty="0">
                <a:latin typeface="+mn-lt"/>
                <a:cs typeface="Arial" panose="020B0604020202020204" pitchFamily="34" charset="0"/>
              </a:rPr>
              <a:t>[Project Team]</a:t>
            </a:r>
          </a:p>
          <a:p>
            <a:pPr algn="ctr"/>
            <a:endParaRPr lang="en-US" sz="1800" b="1" dirty="0"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1800" b="1" dirty="0">
                <a:latin typeface="+mn-lt"/>
                <a:cs typeface="Arial" panose="020B0604020202020204" pitchFamily="34" charset="0"/>
              </a:rPr>
              <a:t>[Team Members]</a:t>
            </a:r>
          </a:p>
          <a:p>
            <a:pPr algn="ctr"/>
            <a:endParaRPr lang="en-US" sz="1800" b="1" dirty="0"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1800" b="1" dirty="0">
                <a:latin typeface="+mn-lt"/>
                <a:cs typeface="Arial" panose="020B0604020202020204" pitchFamily="34" charset="0"/>
              </a:rPr>
              <a:t>Team Members’ Departments and School</a:t>
            </a:r>
            <a:endParaRPr lang="en-US" sz="1800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365954-A42F-437F-828E-34290C82D61E}"/>
              </a:ext>
            </a:extLst>
          </p:cNvPr>
          <p:cNvSpPr txBox="1"/>
          <p:nvPr/>
        </p:nvSpPr>
        <p:spPr>
          <a:xfrm>
            <a:off x="1009724" y="6329805"/>
            <a:ext cx="7116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Note, you </a:t>
            </a:r>
            <a:r>
              <a:rPr lang="en-US">
                <a:highlight>
                  <a:srgbClr val="FFFF00"/>
                </a:highlight>
              </a:rPr>
              <a:t>will likely have </a:t>
            </a:r>
            <a:r>
              <a:rPr lang="en-US" dirty="0">
                <a:highlight>
                  <a:srgbClr val="FFFF00"/>
                </a:highlight>
              </a:rPr>
              <a:t>less </a:t>
            </a:r>
            <a:r>
              <a:rPr lang="en-US">
                <a:highlight>
                  <a:srgbClr val="FFFF00"/>
                </a:highlight>
              </a:rPr>
              <a:t>than 5 </a:t>
            </a:r>
            <a:r>
              <a:rPr lang="en-US" dirty="0">
                <a:highlight>
                  <a:srgbClr val="FFFF00"/>
                </a:highlight>
              </a:rPr>
              <a:t>minutes to present.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3CAC856-1BBB-45BD-8E9F-47D8B49C9EFA}"/>
              </a:ext>
            </a:extLst>
          </p:cNvPr>
          <p:cNvSpPr txBox="1"/>
          <p:nvPr/>
        </p:nvSpPr>
        <p:spPr>
          <a:xfrm>
            <a:off x="506027" y="857928"/>
            <a:ext cx="8043169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+mn-lt"/>
                <a:cs typeface="Arial" panose="020B0604020202020204" pitchFamily="34" charset="0"/>
              </a:rPr>
              <a:t>Executive Summary</a:t>
            </a:r>
          </a:p>
          <a:p>
            <a:pPr algn="ctr"/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algn="ctr"/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r>
              <a:rPr lang="en-US" sz="2000" b="1" dirty="0">
                <a:latin typeface="+mn-lt"/>
                <a:cs typeface="Arial" panose="020B0604020202020204" pitchFamily="34" charset="0"/>
              </a:rPr>
              <a:t>1. What is the problem?</a:t>
            </a:r>
          </a:p>
          <a:p>
            <a:r>
              <a:rPr lang="en-US" sz="2000" b="1" dirty="0">
                <a:latin typeface="+mn-lt"/>
                <a:cs typeface="Arial" panose="020B0604020202020204" pitchFamily="34" charset="0"/>
              </a:rPr>
              <a:t>2. What did your team do to address the problem?</a:t>
            </a:r>
          </a:p>
          <a:p>
            <a:r>
              <a:rPr lang="en-US" sz="2000" b="1" dirty="0">
                <a:latin typeface="+mn-lt"/>
                <a:cs typeface="Arial" panose="020B0604020202020204" pitchFamily="34" charset="0"/>
              </a:rPr>
              <a:t>3. What did your team learn?</a:t>
            </a:r>
          </a:p>
          <a:p>
            <a:r>
              <a:rPr lang="en-US" sz="2000" b="1" dirty="0">
                <a:latin typeface="+mn-lt"/>
                <a:cs typeface="Arial" panose="020B0604020202020204" pitchFamily="34" charset="0"/>
              </a:rPr>
              <a:t>4. What does your team recommend going forward?</a:t>
            </a:r>
          </a:p>
          <a:p>
            <a:pPr algn="ctr"/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algn="ctr"/>
            <a:endParaRPr lang="en-US" sz="1800" b="1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057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3CAC856-1BBB-45BD-8E9F-47D8B49C9EFA}"/>
              </a:ext>
            </a:extLst>
          </p:cNvPr>
          <p:cNvSpPr txBox="1"/>
          <p:nvPr/>
        </p:nvSpPr>
        <p:spPr>
          <a:xfrm>
            <a:off x="506027" y="857928"/>
            <a:ext cx="8043169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+mn-lt"/>
                <a:cs typeface="Arial" panose="020B0604020202020204" pitchFamily="34" charset="0"/>
              </a:rPr>
              <a:t>Workflow</a:t>
            </a:r>
          </a:p>
          <a:p>
            <a:pPr algn="ctr"/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algn="ctr"/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2000" b="1" dirty="0">
                <a:latin typeface="+mn-lt"/>
                <a:cs typeface="Arial" panose="020B0604020202020204" pitchFamily="34" charset="0"/>
              </a:rPr>
              <a:t>Overview with Steps / Flow Chart</a:t>
            </a:r>
          </a:p>
          <a:p>
            <a:pPr algn="ctr"/>
            <a:endParaRPr lang="en-US" sz="1800" b="1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687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3CAC856-1BBB-45BD-8E9F-47D8B49C9EFA}"/>
              </a:ext>
            </a:extLst>
          </p:cNvPr>
          <p:cNvSpPr txBox="1"/>
          <p:nvPr/>
        </p:nvSpPr>
        <p:spPr>
          <a:xfrm>
            <a:off x="506027" y="857928"/>
            <a:ext cx="8043169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+mn-lt"/>
                <a:cs typeface="Arial" panose="020B0604020202020204" pitchFamily="34" charset="0"/>
              </a:rPr>
              <a:t>Workflow (Multiple Slides)</a:t>
            </a:r>
          </a:p>
          <a:p>
            <a:pPr algn="ctr"/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algn="ctr"/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2000" b="1" dirty="0">
                <a:latin typeface="+mn-lt"/>
                <a:cs typeface="Arial" panose="020B0604020202020204" pitchFamily="34" charset="0"/>
              </a:rPr>
              <a:t>Showcase Interesting and Innovative Aspects of Your Workflow.</a:t>
            </a:r>
          </a:p>
          <a:p>
            <a:pPr algn="ctr"/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2000" b="1" dirty="0">
                <a:latin typeface="+mn-lt"/>
                <a:cs typeface="Arial" panose="020B0604020202020204" pitchFamily="34" charset="0"/>
              </a:rPr>
              <a:t>State and Defend Modeling Decisions</a:t>
            </a:r>
          </a:p>
          <a:p>
            <a:pPr algn="ctr"/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2000" b="1" dirty="0">
                <a:latin typeface="+mn-lt"/>
                <a:cs typeface="Arial" panose="020B0604020202020204" pitchFamily="34" charset="0"/>
              </a:rPr>
              <a:t>Discuss Critical Results and Learnings for Workflow Steps</a:t>
            </a:r>
          </a:p>
          <a:p>
            <a:pPr algn="ctr"/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2000" b="1" dirty="0">
                <a:latin typeface="+mn-lt"/>
                <a:cs typeface="Arial" panose="020B0604020202020204" pitchFamily="34" charset="0"/>
              </a:rPr>
              <a:t>Captions for all Figures</a:t>
            </a:r>
          </a:p>
          <a:p>
            <a:pPr algn="ctr"/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2000" b="1" dirty="0">
                <a:latin typeface="+mn-lt"/>
                <a:cs typeface="Arial" panose="020B0604020202020204" pitchFamily="34" charset="0"/>
              </a:rPr>
              <a:t>Concise Text on Slides to Explain the Main Points</a:t>
            </a:r>
          </a:p>
          <a:p>
            <a:pPr algn="ctr"/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algn="ctr"/>
            <a:endParaRPr lang="en-US" sz="1800" b="1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691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3CAC856-1BBB-45BD-8E9F-47D8B49C9EFA}"/>
              </a:ext>
            </a:extLst>
          </p:cNvPr>
          <p:cNvSpPr txBox="1"/>
          <p:nvPr/>
        </p:nvSpPr>
        <p:spPr>
          <a:xfrm>
            <a:off x="1056443" y="1143063"/>
            <a:ext cx="7324078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+mn-lt"/>
                <a:cs typeface="Arial" panose="020B0604020202020204" pitchFamily="34" charset="0"/>
              </a:rPr>
              <a:t>Results and Discussions</a:t>
            </a:r>
          </a:p>
          <a:p>
            <a:pPr algn="ctr"/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algn="ctr"/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2000" b="1" dirty="0">
                <a:latin typeface="+mn-lt"/>
                <a:cs typeface="Arial" panose="020B0604020202020204" pitchFamily="34" charset="0"/>
              </a:rPr>
              <a:t>Present your predictions and uncertainty models for the cum three years oil production for the preproduction wells. </a:t>
            </a:r>
          </a:p>
          <a:p>
            <a:pPr algn="ctr"/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2000" b="1" dirty="0">
                <a:latin typeface="+mn-lt"/>
                <a:cs typeface="Arial" panose="020B0604020202020204" pitchFamily="34" charset="0"/>
              </a:rPr>
              <a:t>Use table, graphs to communicate the model predictions and uncertainty models, modeling tuning, feature engineering and importance, etc.</a:t>
            </a:r>
          </a:p>
          <a:p>
            <a:pPr algn="ctr"/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2000" b="1" dirty="0">
                <a:highlight>
                  <a:srgbClr val="FFFF00"/>
                </a:highlight>
                <a:latin typeface="+mn-lt"/>
                <a:cs typeface="Arial" panose="020B0604020202020204" pitchFamily="34" charset="0"/>
              </a:rPr>
              <a:t>You will be judged on the quality and the novelty of the figures and the ways of looking at data</a:t>
            </a:r>
            <a:endParaRPr lang="en-US" sz="1800" b="1" dirty="0">
              <a:highlight>
                <a:srgbClr val="FFFF00"/>
              </a:highlight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120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3CAC856-1BBB-45BD-8E9F-47D8B49C9EFA}"/>
              </a:ext>
            </a:extLst>
          </p:cNvPr>
          <p:cNvSpPr txBox="1"/>
          <p:nvPr/>
        </p:nvSpPr>
        <p:spPr>
          <a:xfrm>
            <a:off x="506027" y="857928"/>
            <a:ext cx="8043169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+mn-lt"/>
                <a:cs typeface="Arial" panose="020B0604020202020204" pitchFamily="34" charset="0"/>
              </a:rPr>
              <a:t>Feedback</a:t>
            </a:r>
          </a:p>
          <a:p>
            <a:pPr algn="ctr"/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algn="ctr"/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2000" b="1" dirty="0">
                <a:latin typeface="+mn-lt"/>
                <a:cs typeface="Arial" panose="020B0604020202020204" pitchFamily="34" charset="0"/>
              </a:rPr>
              <a:t>What did your team learn?</a:t>
            </a:r>
          </a:p>
          <a:p>
            <a:pPr algn="ctr"/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2000" b="1" dirty="0">
                <a:latin typeface="+mn-lt"/>
                <a:cs typeface="Arial" panose="020B0604020202020204" pitchFamily="34" charset="0"/>
              </a:rPr>
              <a:t>What did your team like?</a:t>
            </a:r>
          </a:p>
          <a:p>
            <a:pPr algn="ctr"/>
            <a:endParaRPr lang="en-US" sz="2000" b="1" dirty="0"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2000" b="1" dirty="0">
                <a:latin typeface="+mn-lt"/>
                <a:cs typeface="Arial" panose="020B0604020202020204" pitchFamily="34" charset="0"/>
              </a:rPr>
              <a:t>What could we do to improve next year?</a:t>
            </a:r>
          </a:p>
          <a:p>
            <a:pPr algn="ctr"/>
            <a:endParaRPr lang="en-US" sz="2000" b="1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159860"/>
      </p:ext>
    </p:extLst>
  </p:cSld>
  <p:clrMapOvr>
    <a:masterClrMapping/>
  </p:clrMapOvr>
</p:sld>
</file>

<file path=ppt/theme/theme1.xml><?xml version="1.0" encoding="utf-8"?>
<a:theme xmlns:a="http://schemas.openxmlformats.org/drawingml/2006/main" name="PGE PPT Presentation">
  <a:themeElements>
    <a:clrScheme name="Custom 5">
      <a:dk1>
        <a:srgbClr val="000000"/>
      </a:dk1>
      <a:lt1>
        <a:srgbClr val="FFFFFF"/>
      </a:lt1>
      <a:dk2>
        <a:srgbClr val="3A3E40"/>
      </a:dk2>
      <a:lt2>
        <a:srgbClr val="595A5B"/>
      </a:lt2>
      <a:accent1>
        <a:srgbClr val="F2A900"/>
      </a:accent1>
      <a:accent2>
        <a:srgbClr val="BF5700"/>
      </a:accent2>
      <a:accent3>
        <a:srgbClr val="005E86"/>
      </a:accent3>
      <a:accent4>
        <a:srgbClr val="43695B"/>
      </a:accent4>
      <a:accent5>
        <a:srgbClr val="333F48"/>
      </a:accent5>
      <a:accent6>
        <a:srgbClr val="C1B688"/>
      </a:accent6>
      <a:hlink>
        <a:srgbClr val="003E5C"/>
      </a:hlink>
      <a:folHlink>
        <a:srgbClr val="787A7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PGE PPT Presentation</Template>
  <TotalTime>7630</TotalTime>
  <Words>209</Words>
  <Application>Microsoft Office PowerPoint</Application>
  <PresentationFormat>On-screen Show (4:3)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PGE PPT Presentation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 and Can Take Two or More Lines</dc:title>
  <dc:creator>Microsoft Office User</dc:creator>
  <cp:lastModifiedBy>WANG, DINGHAN</cp:lastModifiedBy>
  <cp:revision>44</cp:revision>
  <dcterms:created xsi:type="dcterms:W3CDTF">2017-10-04T14:25:29Z</dcterms:created>
  <dcterms:modified xsi:type="dcterms:W3CDTF">2026-01-15T19:46:05Z</dcterms:modified>
</cp:coreProperties>
</file>